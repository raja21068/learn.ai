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B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874519" cy="384048"/>
          </a:xfrm>
          <a:prstGeom prst="roundRect">
            <a:avLst/>
          </a:prstGeom>
          <a:solidFill>
            <a:srgbClr val="B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170432"/>
            <a:ext cx="169164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PATH 03 / BEGINNER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9601200" cy="11430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5200" b="1">
                <a:solidFill>
                  <a:srgbClr val="202B46"/>
                </a:solidFill>
                <a:latin typeface="Aptos"/>
              </a:rPr>
              <a:t>Blockchain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374136"/>
            <a:ext cx="841248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6D7893"/>
                </a:solidFill>
                <a:latin typeface="Aptos"/>
              </a:rPr>
              <a:t>Blocks, hashes, ledgers, and what decentralization does—and does not—solve.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5120640"/>
            <a:ext cx="5806440" cy="685800"/>
          </a:xfrm>
          <a:prstGeom prst="roundRect">
            <a:avLst/>
          </a:prstGeom>
          <a:solidFill>
            <a:srgbClr val="E9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5303520"/>
            <a:ext cx="54864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02B46"/>
                </a:solidFill>
                <a:latin typeface="Aptos"/>
              </a:rPr>
              <a:t>4 MINI LESSONS      ·      20 MINUTES      ·      REAL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B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33271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202B46"/>
                </a:solidFill>
                <a:latin typeface="Aptos"/>
              </a:rPr>
              <a:t>Your four big ideas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2860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4231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86C2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3957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A shared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8254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Explain what a blockchain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22860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4231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86C2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23957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Hashes &amp; tamper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8254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Observe how a hash changes when input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8862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0233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86C2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9959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Make a toy blockchain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4256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Connect two blocks using a previous hash.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38862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0233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86C2C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9959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Consensus &amp; smart 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44256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Distinguish shared agreement from programmed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B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What you should remember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874519"/>
            <a:ext cx="448056" cy="448056"/>
          </a:xfrm>
          <a:prstGeom prst="roundRect">
            <a:avLst/>
          </a:prstGeom>
          <a:solidFill>
            <a:srgbClr val="B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65376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Blockchain is a shared record-keeping architecture, not a universal truth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843784"/>
            <a:ext cx="448056" cy="448056"/>
          </a:xfrm>
          <a:prstGeom prst="roundRect">
            <a:avLst/>
          </a:prstGeom>
          <a:solidFill>
            <a:srgbClr val="B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Hash links are an important ingredient of tamper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813048"/>
            <a:ext cx="448056" cy="448056"/>
          </a:xfrm>
          <a:prstGeom prst="roundRect">
            <a:avLst/>
          </a:prstGeom>
          <a:solidFill>
            <a:srgbClr val="B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03904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Security claims require an explicit threat model, not just a hash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782312"/>
            <a:ext cx="448056" cy="448056"/>
          </a:xfrm>
          <a:prstGeom prst="roundRect">
            <a:avLst/>
          </a:prstGeom>
          <a:solidFill>
            <a:srgbClr val="B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73168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Distributed agreement and contract logic are separate pieces of the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B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05840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A tiny working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25328" cy="3886200"/>
          </a:xfrm>
          <a:prstGeom prst="roundRect">
            <a:avLst/>
          </a:prstGeom>
          <a:solidFill>
            <a:srgbClr val="2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9966960" cy="3200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ledger = []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ledger.append({'from': 'A', 'to': 'B', 'amount': 3})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ledger.append({'from': 'B', 'to': 'C', 'amount': 1})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for event in ledger: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    print(event)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B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05840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700" b="1">
                <a:solidFill>
                  <a:srgbClr val="202B46"/>
                </a:solidFill>
                <a:latin typeface="Aptos"/>
              </a:rPr>
              <a:t>Your five-minute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11095"/>
            <a:ext cx="1056132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02B46"/>
                </a:solidFill>
                <a:latin typeface="Aptos"/>
              </a:rPr>
              <a:t>Does storing data on a blockchain prove the data was true before entry?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9992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A.  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9136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B.  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8280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C.  Only for large blocks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B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87552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Check your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103120"/>
            <a:ext cx="10588752" cy="1078992"/>
          </a:xfrm>
          <a:prstGeom prst="roundRect">
            <a:avLst/>
          </a:prstGeom>
          <a:solidFill>
            <a:srgbClr val="D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10058400" cy="6400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287146"/>
                </a:solidFill>
                <a:latin typeface="Aptos"/>
              </a:rPr>
              <a:t>B.  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511296"/>
            <a:ext cx="10424160" cy="1508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02B46"/>
                </a:solidFill>
                <a:latin typeface="Aptos"/>
              </a:rPr>
              <a:t>A ledger can preserve submitted records, but external data may still be inaccurate or fraudulent.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349240"/>
            <a:ext cx="987552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86C2C"/>
                </a:solidFill>
                <a:latin typeface="Aptos"/>
              </a:rPr>
              <a:t>Next: open index.html and complete the interactive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