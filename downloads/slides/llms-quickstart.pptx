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874519" cy="384048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170432"/>
            <a:ext cx="169164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PATH 04 / BEGINNER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9601200" cy="11430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5200" b="1">
                <a:solidFill>
                  <a:srgbClr val="202B46"/>
                </a:solidFill>
                <a:latin typeface="Aptos"/>
              </a:rPr>
              <a:t>Large Language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374136"/>
            <a:ext cx="841248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6D7893"/>
                </a:solidFill>
                <a:latin typeface="Aptos"/>
              </a:rPr>
              <a:t>Tokens, prompts, retrieval, and responsible tool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120640"/>
            <a:ext cx="5806440" cy="685800"/>
          </a:xfrm>
          <a:prstGeom prst="roundRect">
            <a:avLst/>
          </a:prstGeom>
          <a:solidFill>
            <a:srgbClr val="E9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5303520"/>
            <a:ext cx="54864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02B46"/>
                </a:solidFill>
                <a:latin typeface="Aptos"/>
              </a:rPr>
              <a:t>4 MINI LESSONS      ·      20 MINUTES      ·      REAL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33271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202B46"/>
                </a:solidFill>
                <a:latin typeface="Aptos"/>
              </a:rPr>
              <a:t>Your four big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35AC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Tokens &amp;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Understand the basic units used by language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35AC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Prompts &amp; structured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Write a clear task with constraints and a checkable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35AC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Retrieval-augmented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See how finding evidence differs from making up an answer.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35AC3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Tool calling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Separate model decisions from actual tool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What you should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874519"/>
            <a:ext cx="448056" cy="448056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65376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Start with token and context limits, then evaluate truthfulness separately.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843784"/>
            <a:ext cx="448056" cy="448056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Precise instructions help, but external verification remains necessary.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813048"/>
            <a:ext cx="448056" cy="448056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03904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Grounded answers require relevant evidence and source-aware checking.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782312"/>
            <a:ext cx="448056" cy="448056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Tool use makes LLMs more capable and raises the need for stronger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A tiny working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25328" cy="3886200"/>
          </a:xfrm>
          <a:prstGeom prst="roundRect">
            <a:avLst/>
          </a:prstGeom>
          <a:solidFill>
            <a:srgbClr val="2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9966960" cy="3200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DFECFB"/>
                </a:solidFill>
                <a:latin typeface="Consolas"/>
              </a:rPr>
              <a:t>text = 'Models predict token sequences.'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DFECFB"/>
                </a:solidFill>
                <a:latin typeface="Consolas"/>
              </a:rPr>
              <a:t># This is a word split for teaching, NOT real model tokenization.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DFECFB"/>
                </a:solidFill>
                <a:latin typeface="Consolas"/>
              </a:rPr>
              <a:t>words = text.split()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DFECFB"/>
                </a:solidFill>
                <a:latin typeface="Consolas"/>
              </a:rPr>
              <a:t>print(words)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DFECFB"/>
                </a:solidFill>
                <a:latin typeface="Consolas"/>
              </a:rPr>
              <a:t>print('Word count:', len(words))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700" b="1">
                <a:solidFill>
                  <a:srgbClr val="202B46"/>
                </a:solidFill>
                <a:latin typeface="Aptos"/>
              </a:rPr>
              <a:t>Your five-minute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1095"/>
            <a:ext cx="1056132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02B46"/>
                </a:solidFill>
                <a:latin typeface="Aptos"/>
              </a:rPr>
              <a:t>Is splitting a sentence on spaces identical to model tokenization?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9992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A.  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9136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B.  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8280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C.  Only for English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835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87552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Check your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103120"/>
            <a:ext cx="10588752" cy="1078992"/>
          </a:xfrm>
          <a:prstGeom prst="roundRect">
            <a:avLst/>
          </a:prstGeom>
          <a:solidFill>
            <a:srgbClr val="D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10058400" cy="6400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287146"/>
                </a:solidFill>
                <a:latin typeface="Aptos"/>
              </a:rPr>
              <a:t>B. 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511296"/>
            <a:ext cx="10424160" cy="1508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02B46"/>
                </a:solidFill>
                <a:latin typeface="Aptos"/>
              </a:rPr>
              <a:t>Modern model tokenizers often split or combine text in ways unrelated to whitespace.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349240"/>
            <a:ext cx="98755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35AC3"/>
                </a:solidFill>
                <a:latin typeface="Aptos"/>
              </a:rPr>
              <a:t>Next: open index.html and complete the interactive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