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12064" y="420624"/>
            <a:ext cx="146304" cy="146304"/>
          </a:xfrm>
          <a:prstGeom prst="roundRect">
            <a:avLst/>
          </a:prstGeom>
          <a:solidFill>
            <a:srgbClr val="0B9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320040"/>
            <a:ext cx="457200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6D7893"/>
                </a:solidFill>
                <a:latin typeface="Aptos"/>
              </a:rPr>
              <a:t>FREE AI LEARNING CENTER  /  QUICK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658368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1">
                <a:solidFill>
                  <a:srgbClr val="6D7893"/>
                </a:solidFill>
                <a:latin typeface="Aptos"/>
              </a:rPr>
              <a:t>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43000"/>
            <a:ext cx="1874519" cy="384048"/>
          </a:xfrm>
          <a:prstGeom prst="roundRect">
            <a:avLst/>
          </a:prstGeom>
          <a:solidFill>
            <a:srgbClr val="0B9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170432"/>
            <a:ext cx="1691640" cy="27432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PATH 02 / BEGINNER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011680"/>
            <a:ext cx="9601200" cy="11430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5200" b="1">
                <a:solidFill>
                  <a:srgbClr val="202B46"/>
                </a:solidFill>
                <a:latin typeface="Aptos"/>
              </a:rPr>
              <a:t>Machine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3374136"/>
            <a:ext cx="841248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6D7893"/>
                </a:solidFill>
                <a:latin typeface="Aptos"/>
              </a:rPr>
              <a:t>Understand patterns, predictions, and model evaluation.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" y="5120640"/>
            <a:ext cx="5806440" cy="685800"/>
          </a:xfrm>
          <a:prstGeom prst="roundRect">
            <a:avLst/>
          </a:prstGeom>
          <a:solidFill>
            <a:srgbClr val="E9E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5303520"/>
            <a:ext cx="5486400" cy="31089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202B46"/>
                </a:solidFill>
                <a:latin typeface="Aptos"/>
              </a:rPr>
              <a:t>4 MINI LESSONS      ·      20 MINUTES      ·      REAL CODE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12064" y="420624"/>
            <a:ext cx="146304" cy="146304"/>
          </a:xfrm>
          <a:prstGeom prst="roundRect">
            <a:avLst/>
          </a:prstGeom>
          <a:solidFill>
            <a:srgbClr val="0B9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320040"/>
            <a:ext cx="457200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6D7893"/>
                </a:solidFill>
                <a:latin typeface="Aptos"/>
              </a:rPr>
              <a:t>FREE AI LEARNING CENTER  /  QUICK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658368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1">
                <a:solidFill>
                  <a:srgbClr val="6D7893"/>
                </a:solidFill>
                <a:latin typeface="Apto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1033271"/>
            <a:ext cx="100584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3900" b="1">
                <a:solidFill>
                  <a:srgbClr val="202B46"/>
                </a:solidFill>
                <a:latin typeface="Aptos"/>
              </a:rPr>
              <a:t>Your four big ideas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" y="2286000"/>
            <a:ext cx="52578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2423160"/>
            <a:ext cx="4572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0B9987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72768" y="2395728"/>
            <a:ext cx="4187952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900" b="1">
                <a:solidFill>
                  <a:srgbClr val="202B46"/>
                </a:solidFill>
                <a:latin typeface="Aptos"/>
              </a:rPr>
              <a:t>What is machine learning?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81912" y="2825496"/>
            <a:ext cx="4160520" cy="5943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6D7893"/>
                </a:solidFill>
                <a:latin typeface="Aptos"/>
              </a:rPr>
              <a:t>Tell conventional code apart from learning from examples.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91656" y="2286000"/>
            <a:ext cx="52578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01968" y="2423160"/>
            <a:ext cx="4572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0B9987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96328" y="2395728"/>
            <a:ext cx="4187952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900" b="1">
                <a:solidFill>
                  <a:srgbClr val="202B46"/>
                </a:solidFill>
                <a:latin typeface="Aptos"/>
              </a:rPr>
              <a:t>Train, validate,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5472" y="2825496"/>
            <a:ext cx="4160520" cy="5943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6D7893"/>
                </a:solidFill>
                <a:latin typeface="Aptos"/>
              </a:rPr>
              <a:t>Understand why a fair test uses unseen data.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" y="3886200"/>
            <a:ext cx="52578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4023360"/>
            <a:ext cx="4572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0B9987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3995928"/>
            <a:ext cx="4187952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900" b="1">
                <a:solidFill>
                  <a:srgbClr val="202B46"/>
                </a:solidFill>
                <a:latin typeface="Aptos"/>
              </a:rPr>
              <a:t>Build a tiny classifier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81912" y="4425696"/>
            <a:ext cx="4160520" cy="5943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6D7893"/>
                </a:solidFill>
                <a:latin typeface="Aptos"/>
              </a:rPr>
              <a:t>Use the nearest labeled example to make a prediction.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91656" y="3886200"/>
            <a:ext cx="52578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1968" y="4023360"/>
            <a:ext cx="4572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0B9987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96328" y="3995928"/>
            <a:ext cx="4187952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900" b="1">
                <a:solidFill>
                  <a:srgbClr val="202B46"/>
                </a:solidFill>
                <a:latin typeface="Aptos"/>
              </a:rPr>
              <a:t>Metrics &amp; overfitting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05472" y="4425696"/>
            <a:ext cx="4160520" cy="5943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6D7893"/>
                </a:solidFill>
                <a:latin typeface="Aptos"/>
              </a:rPr>
              <a:t>Calculate accuracy and recognize its limits.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12064" y="420624"/>
            <a:ext cx="146304" cy="146304"/>
          </a:xfrm>
          <a:prstGeom prst="roundRect">
            <a:avLst/>
          </a:prstGeom>
          <a:solidFill>
            <a:srgbClr val="0B9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320040"/>
            <a:ext cx="457200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6D7893"/>
                </a:solidFill>
                <a:latin typeface="Aptos"/>
              </a:rPr>
              <a:t>FREE AI LEARNING CENTER  /  QUICK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658368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1">
                <a:solidFill>
                  <a:srgbClr val="6D7893"/>
                </a:solidFill>
                <a:latin typeface="Aptos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1042415"/>
            <a:ext cx="100584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3800" b="1">
                <a:solidFill>
                  <a:srgbClr val="202B46"/>
                </a:solidFill>
                <a:latin typeface="Aptos"/>
              </a:rPr>
              <a:t>What you should remember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" y="1874519"/>
            <a:ext cx="448056" cy="448056"/>
          </a:xfrm>
          <a:prstGeom prst="roundRect">
            <a:avLst/>
          </a:prstGeom>
          <a:solidFill>
            <a:srgbClr val="0B9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865376"/>
            <a:ext cx="9829800" cy="6858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02B46"/>
                </a:solidFill>
                <a:latin typeface="Aptos"/>
              </a:rPr>
              <a:t>ML learns patterns from data; predicting well requires meaningful evaluation.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" y="2843784"/>
            <a:ext cx="448056" cy="448056"/>
          </a:xfrm>
          <a:prstGeom prst="roundRect">
            <a:avLst/>
          </a:prstGeom>
          <a:solidFill>
            <a:srgbClr val="0B9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834640"/>
            <a:ext cx="9829800" cy="6858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02B46"/>
                </a:solidFill>
                <a:latin typeface="Aptos"/>
              </a:rPr>
              <a:t>A convincing score depends on proper data separation, not just a powerful model.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" y="3813048"/>
            <a:ext cx="448056" cy="448056"/>
          </a:xfrm>
          <a:prstGeom prst="roundRect">
            <a:avLst/>
          </a:prstGeom>
          <a:solidFill>
            <a:srgbClr val="0B9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3803904"/>
            <a:ext cx="9829800" cy="6858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02B46"/>
                </a:solidFill>
                <a:latin typeface="Aptos"/>
              </a:rPr>
              <a:t>Even a simple baseline can establish whether a complex model is necessary.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" y="4782312"/>
            <a:ext cx="448056" cy="448056"/>
          </a:xfrm>
          <a:prstGeom prst="roundRect">
            <a:avLst/>
          </a:prstGeom>
          <a:solidFill>
            <a:srgbClr val="0B9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4773168"/>
            <a:ext cx="9829800" cy="6858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02B46"/>
                </a:solidFill>
                <a:latin typeface="Aptos"/>
              </a:rPr>
              <a:t>Evaluation asks what kinds of mistakes matter, not only how many.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12064" y="420624"/>
            <a:ext cx="146304" cy="146304"/>
          </a:xfrm>
          <a:prstGeom prst="roundRect">
            <a:avLst/>
          </a:prstGeom>
          <a:solidFill>
            <a:srgbClr val="0B9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320040"/>
            <a:ext cx="457200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6D7893"/>
                </a:solidFill>
                <a:latin typeface="Aptos"/>
              </a:rPr>
              <a:t>FREE AI LEARNING CENTER  /  QUICK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658368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1">
                <a:solidFill>
                  <a:srgbClr val="6D7893"/>
                </a:solidFill>
                <a:latin typeface="Aptos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1005840"/>
            <a:ext cx="100584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3800" b="1">
                <a:solidFill>
                  <a:srgbClr val="202B46"/>
                </a:solidFill>
                <a:latin typeface="Aptos"/>
              </a:rPr>
              <a:t>A tiny working example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011680"/>
            <a:ext cx="10625328" cy="3886200"/>
          </a:xfrm>
          <a:prstGeom prst="roundRect">
            <a:avLst/>
          </a:prstGeom>
          <a:solidFill>
            <a:srgbClr val="20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377440"/>
            <a:ext cx="9966960" cy="3200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900" b="0">
                <a:solidFill>
                  <a:srgbClr val="DFECFB"/>
                </a:solidFill>
                <a:latin typeface="Consolas"/>
              </a:rPr>
              <a:t>examples = [(1, 2), (2, 4), (3, 6)]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DFECFB"/>
                </a:solidFill>
                <a:latin typeface="Consolas"/>
              </a:rPr>
              <a:t># Illustration: all examples follow y = 2 * x.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DFECFB"/>
                </a:solidFill>
                <a:latin typeface="Consolas"/>
              </a:rPr>
              <a:t>def predict(x):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DFECFB"/>
                </a:solidFill>
                <a:latin typeface="Consolas"/>
              </a:rPr>
              <a:t>    return 2 * x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DFECFB"/>
                </a:solidFill>
                <a:latin typeface="Consolas"/>
              </a:rPr>
              <a:t>print('Prediction for 4:', predict(4))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12064" y="420624"/>
            <a:ext cx="146304" cy="146304"/>
          </a:xfrm>
          <a:prstGeom prst="roundRect">
            <a:avLst/>
          </a:prstGeom>
          <a:solidFill>
            <a:srgbClr val="0B9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320040"/>
            <a:ext cx="457200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6D7893"/>
                </a:solidFill>
                <a:latin typeface="Aptos"/>
              </a:rPr>
              <a:t>FREE AI LEARNING CENTER  /  QUICK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658368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1">
                <a:solidFill>
                  <a:srgbClr val="6D7893"/>
                </a:solidFill>
                <a:latin typeface="Aptos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1005840"/>
            <a:ext cx="100584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3700" b="1">
                <a:solidFill>
                  <a:srgbClr val="202B46"/>
                </a:solidFill>
                <a:latin typeface="Aptos"/>
              </a:rPr>
              <a:t>Your five-minute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911095"/>
            <a:ext cx="1056132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202B46"/>
                </a:solidFill>
                <a:latin typeface="Aptos"/>
              </a:rPr>
              <a:t>In supervised learning, what are labels?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880360"/>
            <a:ext cx="105613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0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1" y="2999232"/>
            <a:ext cx="9875520" cy="4572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6D7893"/>
                </a:solidFill>
                <a:latin typeface="Aptos"/>
              </a:rPr>
              <a:t>A.  The target answers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794760"/>
            <a:ext cx="105613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0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1" y="3913632"/>
            <a:ext cx="9875520" cy="4572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6D7893"/>
                </a:solidFill>
                <a:latin typeface="Aptos"/>
              </a:rPr>
              <a:t>B.  The computer model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709160"/>
            <a:ext cx="105613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0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1" y="4828032"/>
            <a:ext cx="9875520" cy="4572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6D7893"/>
                </a:solidFill>
                <a:latin typeface="Aptos"/>
              </a:rPr>
              <a:t>C.  The training time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12064" y="420624"/>
            <a:ext cx="146304" cy="146304"/>
          </a:xfrm>
          <a:prstGeom prst="roundRect">
            <a:avLst/>
          </a:prstGeom>
          <a:solidFill>
            <a:srgbClr val="0B9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320040"/>
            <a:ext cx="457200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6D7893"/>
                </a:solidFill>
                <a:latin typeface="Aptos"/>
              </a:rPr>
              <a:t>FREE AI LEARNING CENTER  /  QUICK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658368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1">
                <a:solidFill>
                  <a:srgbClr val="6D7893"/>
                </a:solidFill>
                <a:latin typeface="Aptos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987552"/>
            <a:ext cx="100584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3800" b="1">
                <a:solidFill>
                  <a:srgbClr val="202B46"/>
                </a:solidFill>
                <a:latin typeface="Aptos"/>
              </a:rPr>
              <a:t>Check your thinking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" y="2103120"/>
            <a:ext cx="10588752" cy="1078992"/>
          </a:xfrm>
          <a:prstGeom prst="roundRect">
            <a:avLst/>
          </a:prstGeom>
          <a:solidFill>
            <a:srgbClr val="DFF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2395728"/>
            <a:ext cx="10058400" cy="64008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2300" b="1">
                <a:solidFill>
                  <a:srgbClr val="287146"/>
                </a:solidFill>
                <a:latin typeface="Aptos"/>
              </a:rPr>
              <a:t>A.  The target answers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3511296"/>
            <a:ext cx="10424160" cy="1508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202B46"/>
                </a:solidFill>
                <a:latin typeface="Aptos"/>
              </a:rPr>
              <a:t>Labels are the known outcomes used to guide training.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5349240"/>
            <a:ext cx="9875520" cy="50292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0B9987"/>
                </a:solidFill>
                <a:latin typeface="Aptos"/>
              </a:rPr>
              <a:t>Next: open index.html and complete the interactive lesson.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