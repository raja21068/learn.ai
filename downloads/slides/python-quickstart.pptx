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2064" y="420624"/>
            <a:ext cx="146304" cy="146304"/>
          </a:xfrm>
          <a:prstGeom prst="roundRect">
            <a:avLst/>
          </a:prstGeom>
          <a:solidFill>
            <a:srgbClr val="486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20040"/>
            <a:ext cx="457200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6D7893"/>
                </a:solidFill>
                <a:latin typeface="Aptos"/>
              </a:rPr>
              <a:t>FREE AI LEARNING CENTER  /  QUICK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658368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1">
                <a:solidFill>
                  <a:srgbClr val="6D7893"/>
                </a:solidFill>
                <a:latin typeface="Aptos"/>
              </a:rPr>
              <a:t>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43000"/>
            <a:ext cx="1874519" cy="384048"/>
          </a:xfrm>
          <a:prstGeom prst="roundRect">
            <a:avLst/>
          </a:prstGeom>
          <a:solidFill>
            <a:srgbClr val="486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170432"/>
            <a:ext cx="1691640" cy="2743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PATH 01 / BEGINNER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011680"/>
            <a:ext cx="9601200" cy="11430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5200" b="1">
                <a:solidFill>
                  <a:srgbClr val="202B46"/>
                </a:solidFill>
                <a:latin typeface="Aptos"/>
              </a:rPr>
              <a:t>Python Essentials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3374136"/>
            <a:ext cx="841248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6D7893"/>
                </a:solidFill>
                <a:latin typeface="Aptos"/>
              </a:rPr>
              <a:t>Your first steps into programming, without the jargon.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" y="5120640"/>
            <a:ext cx="5806440" cy="685800"/>
          </a:xfrm>
          <a:prstGeom prst="roundRect">
            <a:avLst/>
          </a:prstGeom>
          <a:solidFill>
            <a:srgbClr val="E9E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5303520"/>
            <a:ext cx="5486400" cy="31089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202B46"/>
                </a:solidFill>
                <a:latin typeface="Aptos"/>
              </a:rPr>
              <a:t>4 MINI LESSONS      ·      20 MINUTES      ·      REAL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2064" y="420624"/>
            <a:ext cx="146304" cy="146304"/>
          </a:xfrm>
          <a:prstGeom prst="roundRect">
            <a:avLst/>
          </a:prstGeom>
          <a:solidFill>
            <a:srgbClr val="486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20040"/>
            <a:ext cx="457200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6D7893"/>
                </a:solidFill>
                <a:latin typeface="Aptos"/>
              </a:rPr>
              <a:t>FREE AI LEARNING CENTER  /  QUICK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658368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1">
                <a:solidFill>
                  <a:srgbClr val="6D7893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033271"/>
            <a:ext cx="100584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3900" b="1">
                <a:solidFill>
                  <a:srgbClr val="202B46"/>
                </a:solidFill>
                <a:latin typeface="Aptos"/>
              </a:rPr>
              <a:t>Your four big ideas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" y="2286000"/>
            <a:ext cx="52578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423160"/>
            <a:ext cx="4572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4868E8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2395728"/>
            <a:ext cx="4187952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202B46"/>
                </a:solidFill>
                <a:latin typeface="Aptos"/>
              </a:rPr>
              <a:t>Values &amp; variables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1912" y="2825496"/>
            <a:ext cx="4160520" cy="594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6D7893"/>
                </a:solidFill>
                <a:latin typeface="Aptos"/>
              </a:rPr>
              <a:t>Print information and store a value.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91656" y="2286000"/>
            <a:ext cx="52578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2423160"/>
            <a:ext cx="4572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4868E8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96328" y="2395728"/>
            <a:ext cx="4187952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202B46"/>
                </a:solidFill>
                <a:latin typeface="Aptos"/>
              </a:rPr>
              <a:t>Lists &amp; loops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5472" y="2825496"/>
            <a:ext cx="4160520" cy="594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6D7893"/>
                </a:solidFill>
                <a:latin typeface="Aptos"/>
              </a:rPr>
              <a:t>Repeat work over a collection.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" y="3886200"/>
            <a:ext cx="52578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4023360"/>
            <a:ext cx="4572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4868E8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3995928"/>
            <a:ext cx="4187952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202B46"/>
                </a:solidFill>
                <a:latin typeface="Aptos"/>
              </a:rPr>
              <a:t>Functions &amp; decisions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1912" y="4425696"/>
            <a:ext cx="4160520" cy="594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6D7893"/>
                </a:solidFill>
                <a:latin typeface="Aptos"/>
              </a:rPr>
              <a:t>Create reusable logic with conditions.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91656" y="3886200"/>
            <a:ext cx="52578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4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1968" y="4023360"/>
            <a:ext cx="457200" cy="3474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4868E8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96328" y="3995928"/>
            <a:ext cx="4187952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202B46"/>
                </a:solidFill>
                <a:latin typeface="Aptos"/>
              </a:rPr>
              <a:t>Dictionaries &amp; simple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5472" y="4425696"/>
            <a:ext cx="4160520" cy="5943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6D7893"/>
                </a:solidFill>
                <a:latin typeface="Aptos"/>
              </a:rPr>
              <a:t>Store structured information and compute a summary.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2064" y="420624"/>
            <a:ext cx="146304" cy="146304"/>
          </a:xfrm>
          <a:prstGeom prst="roundRect">
            <a:avLst/>
          </a:prstGeom>
          <a:solidFill>
            <a:srgbClr val="486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20040"/>
            <a:ext cx="457200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6D7893"/>
                </a:solidFill>
                <a:latin typeface="Aptos"/>
              </a:rPr>
              <a:t>FREE AI LEARNING CENTER  /  QUICK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658368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1">
                <a:solidFill>
                  <a:srgbClr val="6D7893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042415"/>
            <a:ext cx="100584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3800" b="1">
                <a:solidFill>
                  <a:srgbClr val="202B46"/>
                </a:solidFill>
                <a:latin typeface="Aptos"/>
              </a:rPr>
              <a:t>What you should remember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1874519"/>
            <a:ext cx="448056" cy="448056"/>
          </a:xfrm>
          <a:prstGeom prst="roundRect">
            <a:avLst/>
          </a:prstGeom>
          <a:solidFill>
            <a:srgbClr val="486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865376"/>
            <a:ext cx="9829800" cy="6858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02B46"/>
                </a:solidFill>
                <a:latin typeface="Aptos"/>
              </a:rPr>
              <a:t>A program becomes useful when you can name, store, and display information.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2843784"/>
            <a:ext cx="448056" cy="448056"/>
          </a:xfrm>
          <a:prstGeom prst="roundRect">
            <a:avLst/>
          </a:prstGeom>
          <a:solidFill>
            <a:srgbClr val="486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834640"/>
            <a:ext cx="9829800" cy="6858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02B46"/>
                </a:solidFill>
                <a:latin typeface="Aptos"/>
              </a:rPr>
              <a:t>Collections and loops let you process many records with a few lines.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3813048"/>
            <a:ext cx="448056" cy="448056"/>
          </a:xfrm>
          <a:prstGeom prst="roundRect">
            <a:avLst/>
          </a:prstGeom>
          <a:solidFill>
            <a:srgbClr val="486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803904"/>
            <a:ext cx="9829800" cy="6858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02B46"/>
                </a:solidFill>
                <a:latin typeface="Aptos"/>
              </a:rPr>
              <a:t>Functions make programs easier to reuse, test, and explain.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" y="4782312"/>
            <a:ext cx="448056" cy="448056"/>
          </a:xfrm>
          <a:prstGeom prst="roundRect">
            <a:avLst/>
          </a:prstGeom>
          <a:solidFill>
            <a:srgbClr val="486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4773168"/>
            <a:ext cx="9829800" cy="6858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02B46"/>
                </a:solidFill>
                <a:latin typeface="Aptos"/>
              </a:rPr>
              <a:t>When your data has named fields, dictionaries are often clearer than parallel lists.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2064" y="420624"/>
            <a:ext cx="146304" cy="146304"/>
          </a:xfrm>
          <a:prstGeom prst="roundRect">
            <a:avLst/>
          </a:prstGeom>
          <a:solidFill>
            <a:srgbClr val="486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20040"/>
            <a:ext cx="457200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6D7893"/>
                </a:solidFill>
                <a:latin typeface="Aptos"/>
              </a:rPr>
              <a:t>FREE AI LEARNING CENTER  /  QUICK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658368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1">
                <a:solidFill>
                  <a:srgbClr val="6D7893"/>
                </a:solidFill>
                <a:latin typeface="Apto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005840"/>
            <a:ext cx="100584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3800" b="1">
                <a:solidFill>
                  <a:srgbClr val="202B46"/>
                </a:solidFill>
                <a:latin typeface="Aptos"/>
              </a:rPr>
              <a:t>A tiny working example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11680"/>
            <a:ext cx="10625328" cy="3886200"/>
          </a:xfrm>
          <a:prstGeom prst="roundRect">
            <a:avLst/>
          </a:prstGeom>
          <a:solidFill>
            <a:srgbClr val="20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377440"/>
            <a:ext cx="9966960" cy="3200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DFECFB"/>
                </a:solidFill>
                <a:latin typeface="Consolas"/>
              </a:rPr>
              <a:t>name = "Sam"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DFECFB"/>
                </a:solidFill>
                <a:latin typeface="Consolas"/>
              </a:rPr>
              <a:t>lessons = 3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DFECFB"/>
                </a:solidFill>
                <a:latin typeface="Consolas"/>
              </a:rPr>
              <a:t>print(f"Hi {name}! You finished {lessons} lessons.")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2064" y="420624"/>
            <a:ext cx="146304" cy="146304"/>
          </a:xfrm>
          <a:prstGeom prst="roundRect">
            <a:avLst/>
          </a:prstGeom>
          <a:solidFill>
            <a:srgbClr val="486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20040"/>
            <a:ext cx="457200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6D7893"/>
                </a:solidFill>
                <a:latin typeface="Aptos"/>
              </a:rPr>
              <a:t>FREE AI LEARNING CENTER  /  QUICK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658368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1">
                <a:solidFill>
                  <a:srgbClr val="6D7893"/>
                </a:solidFill>
                <a:latin typeface="Apto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005840"/>
            <a:ext cx="100584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3700" b="1">
                <a:solidFill>
                  <a:srgbClr val="202B46"/>
                </a:solidFill>
                <a:latin typeface="Aptos"/>
              </a:rPr>
              <a:t>Your five-minute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911095"/>
            <a:ext cx="1056132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202B46"/>
                </a:solidFill>
                <a:latin typeface="Aptos"/>
              </a:rPr>
              <a:t>What does `score = 10` do?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880360"/>
            <a:ext cx="105613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0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2999232"/>
            <a:ext cx="9875520" cy="4572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6D7893"/>
                </a:solidFill>
                <a:latin typeface="Aptos"/>
              </a:rPr>
              <a:t>A.  Compares score with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794760"/>
            <a:ext cx="105613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0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3913632"/>
            <a:ext cx="9875520" cy="4572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6D7893"/>
                </a:solidFill>
                <a:latin typeface="Aptos"/>
              </a:rPr>
              <a:t>B.  Assigns 10 to score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709160"/>
            <a:ext cx="105613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0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4828032"/>
            <a:ext cx="9875520" cy="4572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6D7893"/>
                </a:solidFill>
                <a:latin typeface="Aptos"/>
              </a:rPr>
              <a:t>C.  Prints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2064" y="420624"/>
            <a:ext cx="146304" cy="146304"/>
          </a:xfrm>
          <a:prstGeom prst="roundRect">
            <a:avLst/>
          </a:prstGeom>
          <a:solidFill>
            <a:srgbClr val="486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20040"/>
            <a:ext cx="4572000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6D7893"/>
                </a:solidFill>
                <a:latin typeface="Aptos"/>
              </a:rPr>
              <a:t>FREE AI LEARNING CENTER  /  QUICK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320040"/>
            <a:ext cx="658368" cy="365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1">
                <a:solidFill>
                  <a:srgbClr val="6D7893"/>
                </a:solidFill>
                <a:latin typeface="Apto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987552"/>
            <a:ext cx="10058400" cy="91440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3800" b="1">
                <a:solidFill>
                  <a:srgbClr val="202B46"/>
                </a:solidFill>
                <a:latin typeface="Aptos"/>
              </a:rPr>
              <a:t>Check your thinking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2103120"/>
            <a:ext cx="10588752" cy="1078992"/>
          </a:xfrm>
          <a:prstGeom prst="roundRect">
            <a:avLst/>
          </a:prstGeom>
          <a:solidFill>
            <a:srgbClr val="DFF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395728"/>
            <a:ext cx="10058400" cy="64008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2300" b="1">
                <a:solidFill>
                  <a:srgbClr val="287146"/>
                </a:solidFill>
                <a:latin typeface="Aptos"/>
              </a:rPr>
              <a:t>B.  Assigns 10 to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3511296"/>
            <a:ext cx="10424160" cy="150876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02B46"/>
                </a:solidFill>
                <a:latin typeface="Aptos"/>
              </a:rPr>
              <a:t>The single = assigns a value. The comparison operator is ==.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5349240"/>
            <a:ext cx="9875520" cy="5029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4868E8"/>
                </a:solidFill>
                <a:latin typeface="Aptos"/>
              </a:rPr>
              <a:t>Next: open index.html and complete the interactive lesson.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